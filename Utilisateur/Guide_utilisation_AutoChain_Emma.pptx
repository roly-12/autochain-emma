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051560"/>
            <a:ext cx="9601200" cy="32004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/>
            <a:r>
              <a:rPr sz="1300" b="1">
                <a:solidFill>
                  <a:srgbClr val="A5B4FC"/>
                </a:solidFill>
                <a:latin typeface="Aptos"/>
              </a:rPr>
              <a:t>GUIDE D’UTILISATION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08760"/>
            <a:ext cx="10424160" cy="96012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/>
            <a:r>
              <a:rPr sz="4200" b="1">
                <a:solidFill>
                  <a:srgbClr val="FFFFFF"/>
                </a:solidFill>
                <a:latin typeface="Aptos"/>
              </a:rPr>
              <a:t>AutoChain Emma+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606040"/>
            <a:ext cx="9601200" cy="77724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/>
            <a:r>
              <a:rPr sz="2400" b="0">
                <a:solidFill>
                  <a:srgbClr val="CBD5E1"/>
                </a:solidFill>
                <a:latin typeface="Aptos"/>
              </a:rPr>
              <a:t>Gestion de flotte certifiée par la blockchain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212080"/>
            <a:ext cx="9601200" cy="41148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/>
            <a:r>
              <a:rPr sz="1400" b="0">
                <a:solidFill>
                  <a:srgbClr val="94A3B8"/>
                </a:solidFill>
                <a:latin typeface="Aptos"/>
              </a:rPr>
              <a:t>Parcours par rôle · MetaMask · Véhicules · Maintenance · Vente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943600"/>
            <a:ext cx="9601200" cy="27432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/>
            <a:r>
              <a:rPr sz="1000" b="1">
                <a:solidFill>
                  <a:srgbClr val="818CF8"/>
                </a:solidFill>
                <a:latin typeface="Aptos"/>
              </a:rPr>
              <a:t>Version 1.0 — Juillet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8961120" cy="32004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/>
            <a:r>
              <a:rPr sz="1000" b="1">
                <a:solidFill>
                  <a:srgbClr val="818CF8"/>
                </a:solidFill>
                <a:latin typeface="Aptos"/>
              </a:rPr>
              <a:t>COMPRENDRE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789920" cy="64008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/>
            <a:r>
              <a:rPr sz="2800" b="1">
                <a:solidFill>
                  <a:srgbClr val="0F172A"/>
                </a:solidFill>
                <a:latin typeface="Aptos"/>
              </a:rPr>
              <a:t>Une application, deux niveaux de confiance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347472"/>
            <a:ext cx="411480" cy="32004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r"/>
            <a:r>
              <a:rPr sz="1100" b="1">
                <a:solidFill>
                  <a:srgbClr val="4F46E5"/>
                </a:solidFill>
                <a:latin typeface="Aptos"/>
              </a:rPr>
              <a:t>02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353312"/>
            <a:ext cx="10972800" cy="3200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94360" y="1664208"/>
            <a:ext cx="3398520" cy="44348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58952" y="1847088"/>
            <a:ext cx="73152" cy="4069079"/>
          </a:xfrm>
          <a:prstGeom prst="round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78408" y="1865376"/>
            <a:ext cx="2831592" cy="384048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/>
            <a:r>
              <a:rPr sz="1500" b="1">
                <a:solidFill>
                  <a:srgbClr val="0F172A"/>
                </a:solidFill>
                <a:latin typeface="Aptos"/>
              </a:rPr>
              <a:t>Données administratives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8408" y="2322576"/>
            <a:ext cx="2831592" cy="359359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200">
                <a:solidFill>
                  <a:srgbClr val="334155"/>
                </a:solidFill>
                <a:latin typeface="Aptos"/>
              </a:defRPr>
            </a:pPr>
            <a:r>
              <a:t>• Utilisateurs, photos, échéances et documents privés dans PostgreSQL.</a:t>
            </a:r>
          </a:p>
          <a:p>
            <a:pPr>
              <a:spcAft>
                <a:spcPts val="700"/>
              </a:spcAft>
              <a:defRPr sz="1200">
                <a:solidFill>
                  <a:srgbClr val="334155"/>
                </a:solidFill>
                <a:latin typeface="Aptos"/>
              </a:defRPr>
            </a:pPr>
            <a:r>
              <a:t>• Accès contrôlé selon le rôle Laravel.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21480" y="1664208"/>
            <a:ext cx="3398520" cy="44348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386072" y="1847088"/>
            <a:ext cx="73152" cy="4069079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05528" y="1865376"/>
            <a:ext cx="2831592" cy="384048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/>
            <a:r>
              <a:rPr sz="1500" b="1">
                <a:solidFill>
                  <a:srgbClr val="0F172A"/>
                </a:solidFill>
                <a:latin typeface="Aptos"/>
              </a:rPr>
              <a:t>Preuves blockchain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05528" y="2322576"/>
            <a:ext cx="2831592" cy="359359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200">
                <a:solidFill>
                  <a:srgbClr val="334155"/>
                </a:solidFill>
                <a:latin typeface="Aptos"/>
              </a:defRPr>
            </a:pPr>
            <a:r>
              <a:t>• Identifiants techniques, kilométrage, hash de maintenance et transferts.</a:t>
            </a:r>
          </a:p>
          <a:p>
            <a:pPr>
              <a:spcAft>
                <a:spcPts val="700"/>
              </a:spcAft>
              <a:defRPr sz="1200">
                <a:solidFill>
                  <a:srgbClr val="334155"/>
                </a:solidFill>
                <a:latin typeface="Aptos"/>
              </a:defRPr>
            </a:pPr>
            <a:r>
              <a:t>• Aucune donnée personnelle en clair sur Ethereum.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848600" y="1664208"/>
            <a:ext cx="3398520" cy="44348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013192" y="1847088"/>
            <a:ext cx="73152" cy="4069079"/>
          </a:xfrm>
          <a:prstGeom prst="round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32648" y="1865376"/>
            <a:ext cx="2831592" cy="384048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/>
            <a:r>
              <a:rPr sz="1500" b="1">
                <a:solidFill>
                  <a:srgbClr val="0F172A"/>
                </a:solidFill>
                <a:latin typeface="Aptos"/>
              </a:rPr>
              <a:t>Certification réelle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32648" y="2322576"/>
            <a:ext cx="2831592" cy="359359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200">
                <a:solidFill>
                  <a:srgbClr val="334155"/>
                </a:solidFill>
                <a:latin typeface="Aptos"/>
              </a:defRPr>
            </a:pPr>
            <a:r>
              <a:t>• Une donnée n’est certifiée qu’après receipt réussi.</a:t>
            </a:r>
          </a:p>
          <a:p>
            <a:pPr>
              <a:spcAft>
                <a:spcPts val="700"/>
              </a:spcAft>
              <a:defRPr sz="1200">
                <a:solidFill>
                  <a:srgbClr val="334155"/>
                </a:solidFill>
                <a:latin typeface="Aptos"/>
              </a:defRPr>
            </a:pPr>
            <a:r>
              <a:t>• Le serveur vérifie wallet, réseau, contrat, calldata et événement.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6473952"/>
            <a:ext cx="10972800" cy="201168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/>
            <a:r>
              <a:rPr sz="800" b="0">
                <a:solidFill>
                  <a:srgbClr val="94A3B8"/>
                </a:solidFill>
                <a:latin typeface="Aptos"/>
              </a:rPr>
              <a:t>AutoChain Emma+  |  Guide utilisateur  |  Juillet 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8961120" cy="32004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/>
            <a:r>
              <a:rPr sz="1000" b="1">
                <a:solidFill>
                  <a:srgbClr val="818CF8"/>
                </a:solidFill>
                <a:latin typeface="Aptos"/>
              </a:rPr>
              <a:t>PREMIERS PAS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789920" cy="64008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/>
            <a:r>
              <a:rPr sz="2800" b="1">
                <a:solidFill>
                  <a:srgbClr val="0F172A"/>
                </a:solidFill>
                <a:latin typeface="Aptos"/>
              </a:rPr>
              <a:t>Connexion et navigation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347472"/>
            <a:ext cx="411480" cy="32004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r"/>
            <a:r>
              <a:rPr sz="1100" b="1">
                <a:solidFill>
                  <a:srgbClr val="4F46E5"/>
                </a:solidFill>
                <a:latin typeface="Aptos"/>
              </a:rPr>
              <a:t>03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353312"/>
            <a:ext cx="10972800" cy="3200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94360" y="1664208"/>
            <a:ext cx="3398520" cy="44348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58952" y="1847088"/>
            <a:ext cx="73152" cy="4069079"/>
          </a:xfrm>
          <a:prstGeom prst="round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78408" y="1865376"/>
            <a:ext cx="2831592" cy="384048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/>
            <a:r>
              <a:rPr sz="1500" b="1">
                <a:solidFill>
                  <a:srgbClr val="0F172A"/>
                </a:solidFill>
                <a:latin typeface="Aptos"/>
              </a:rPr>
              <a:t>1. Se connecter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8408" y="2322576"/>
            <a:ext cx="2831592" cy="359359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200">
                <a:solidFill>
                  <a:srgbClr val="334155"/>
                </a:solidFill>
                <a:latin typeface="Aptos"/>
              </a:defRPr>
            </a:pPr>
            <a:r>
              <a:t>• Utiliser l’adresse e-mail du compte métier.</a:t>
            </a:r>
          </a:p>
          <a:p>
            <a:pPr>
              <a:spcAft>
                <a:spcPts val="700"/>
              </a:spcAft>
              <a:defRPr sz="1200">
                <a:solidFill>
                  <a:srgbClr val="334155"/>
                </a:solidFill>
                <a:latin typeface="Aptos"/>
              </a:defRPr>
            </a:pPr>
            <a:r>
              <a:t>• Saisir le code MFA lorsque la protection est activée.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21480" y="1664208"/>
            <a:ext cx="3398520" cy="44348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386072" y="1847088"/>
            <a:ext cx="73152" cy="4069079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05528" y="1865376"/>
            <a:ext cx="2831592" cy="384048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/>
            <a:r>
              <a:rPr sz="1500" b="1">
                <a:solidFill>
                  <a:srgbClr val="0F172A"/>
                </a:solidFill>
                <a:latin typeface="Aptos"/>
              </a:rPr>
              <a:t>2. Lire le tableau de bord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05528" y="2322576"/>
            <a:ext cx="2831592" cy="359359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200">
                <a:solidFill>
                  <a:srgbClr val="334155"/>
                </a:solidFill>
                <a:latin typeface="Aptos"/>
              </a:defRPr>
            </a:pPr>
            <a:r>
              <a:t>• Statistiques filtrées selon le rôle.</a:t>
            </a:r>
          </a:p>
          <a:p>
            <a:pPr>
              <a:spcAft>
                <a:spcPts val="700"/>
              </a:spcAft>
              <a:defRPr sz="1200">
                <a:solidFill>
                  <a:srgbClr val="334155"/>
                </a:solidFill>
                <a:latin typeface="Aptos"/>
              </a:defRPr>
            </a:pPr>
            <a:r>
              <a:t>• Actions rapides et alertes uniquement si autorisées.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848600" y="1664208"/>
            <a:ext cx="3398520" cy="44348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013192" y="1847088"/>
            <a:ext cx="73152" cy="4069079"/>
          </a:xfrm>
          <a:prstGeom prst="round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32648" y="1865376"/>
            <a:ext cx="2831592" cy="384048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/>
            <a:r>
              <a:rPr sz="1500" b="1">
                <a:solidFill>
                  <a:srgbClr val="0F172A"/>
                </a:solidFill>
                <a:latin typeface="Aptos"/>
              </a:rPr>
              <a:t>3. Utiliser le menu Plus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32648" y="2322576"/>
            <a:ext cx="2831592" cy="359359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200">
                <a:solidFill>
                  <a:srgbClr val="334155"/>
                </a:solidFill>
                <a:latin typeface="Aptos"/>
              </a:defRPr>
            </a:pPr>
            <a:r>
              <a:t>• Documents, carburant, alertes, ventes et utilisateurs.</a:t>
            </a:r>
          </a:p>
          <a:p>
            <a:pPr>
              <a:spcAft>
                <a:spcPts val="700"/>
              </a:spcAft>
              <a:defRPr sz="1200">
                <a:solidFill>
                  <a:srgbClr val="334155"/>
                </a:solidFill>
                <a:latin typeface="Aptos"/>
              </a:defRPr>
            </a:pPr>
            <a:r>
              <a:t>• Les liens non autorisés sont automatiquement masqués.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6473952"/>
            <a:ext cx="10972800" cy="201168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/>
            <a:r>
              <a:rPr sz="800" b="0">
                <a:solidFill>
                  <a:srgbClr val="94A3B8"/>
                </a:solidFill>
                <a:latin typeface="Aptos"/>
              </a:rPr>
              <a:t>AutoChain Emma+  |  Guide utilisateur  |  Juillet 2026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8961120" cy="32004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/>
            <a:r>
              <a:rPr sz="1000" b="1">
                <a:solidFill>
                  <a:srgbClr val="818CF8"/>
                </a:solidFill>
                <a:latin typeface="Aptos"/>
              </a:rPr>
              <a:t>RÔLES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789920" cy="64008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/>
            <a:r>
              <a:rPr sz="2800" b="1">
                <a:solidFill>
                  <a:srgbClr val="0F172A"/>
                </a:solidFill>
                <a:latin typeface="Aptos"/>
              </a:rPr>
              <a:t>Qui peut faire quoi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347472"/>
            <a:ext cx="411480" cy="32004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r"/>
            <a:r>
              <a:rPr sz="1100" b="1">
                <a:solidFill>
                  <a:srgbClr val="4F46E5"/>
                </a:solidFill>
                <a:latin typeface="Aptos"/>
              </a:rPr>
              <a:t>04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353312"/>
            <a:ext cx="10972800" cy="3200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94360" y="1664208"/>
            <a:ext cx="2491740" cy="44348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58952" y="1847088"/>
            <a:ext cx="73152" cy="4069079"/>
          </a:xfrm>
          <a:prstGeom prst="round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78408" y="1865376"/>
            <a:ext cx="1924812" cy="384048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/>
            <a:r>
              <a:rPr sz="1500" b="1">
                <a:solidFill>
                  <a:srgbClr val="0F172A"/>
                </a:solidFill>
                <a:latin typeface="Aptos"/>
              </a:rPr>
              <a:t>Super Admin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8408" y="2322576"/>
            <a:ext cx="1924812" cy="359359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200">
                <a:solidFill>
                  <a:srgbClr val="334155"/>
                </a:solidFill>
                <a:latin typeface="Aptos"/>
              </a:defRPr>
            </a:pPr>
            <a:r>
              <a:t>• Comptes, rôles, véhicule, garage certifié et proposition de vente.</a:t>
            </a:r>
          </a:p>
          <a:p>
            <a:pPr>
              <a:spcAft>
                <a:spcPts val="700"/>
              </a:spcAft>
              <a:defRPr sz="1200">
                <a:solidFill>
                  <a:srgbClr val="334155"/>
                </a:solidFill>
                <a:latin typeface="Aptos"/>
              </a:defRPr>
            </a:pPr>
            <a:r>
              <a:t>• Wallet identique à l’administrateur du contrat.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14700" y="1664208"/>
            <a:ext cx="2491740" cy="44348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479292" y="1847088"/>
            <a:ext cx="73152" cy="4069079"/>
          </a:xfrm>
          <a:prstGeom prst="round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98748" y="1865376"/>
            <a:ext cx="1924812" cy="384048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/>
            <a:r>
              <a:rPr sz="1500" b="1">
                <a:solidFill>
                  <a:srgbClr val="0F172A"/>
                </a:solidFill>
                <a:latin typeface="Aptos"/>
              </a:rPr>
              <a:t>Gestionnaire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98748" y="2322576"/>
            <a:ext cx="1924812" cy="359359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200">
                <a:solidFill>
                  <a:srgbClr val="334155"/>
                </a:solidFill>
                <a:latin typeface="Aptos"/>
              </a:defRPr>
            </a:pPr>
            <a:r>
              <a:t>• Données administratives, documents, carburant et suivi de flotte.</a:t>
            </a:r>
          </a:p>
          <a:p>
            <a:pPr>
              <a:spcAft>
                <a:spcPts val="700"/>
              </a:spcAft>
              <a:defRPr sz="1200">
                <a:solidFill>
                  <a:srgbClr val="334155"/>
                </a:solidFill>
                <a:latin typeface="Aptos"/>
              </a:defRPr>
            </a:pPr>
            <a:r>
              <a:t>• Ne signe pas les opérations réservées au contrat admin.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35040" y="1664208"/>
            <a:ext cx="2491740" cy="44348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199632" y="1847088"/>
            <a:ext cx="73152" cy="4069079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19088" y="1865376"/>
            <a:ext cx="1924812" cy="384048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/>
            <a:r>
              <a:rPr sz="1500" b="1">
                <a:solidFill>
                  <a:srgbClr val="0F172A"/>
                </a:solidFill>
                <a:latin typeface="Aptos"/>
              </a:rPr>
              <a:t>Chauffeur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19088" y="2322576"/>
            <a:ext cx="1924812" cy="359359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200">
                <a:solidFill>
                  <a:srgbClr val="334155"/>
                </a:solidFill>
                <a:latin typeface="Aptos"/>
              </a:defRPr>
            </a:pPr>
            <a:r>
              <a:t>• Voit uniquement le véhicule affecté.</a:t>
            </a:r>
          </a:p>
          <a:p>
            <a:pPr>
              <a:spcAft>
                <a:spcPts val="700"/>
              </a:spcAft>
              <a:defRPr sz="1200">
                <a:solidFill>
                  <a:srgbClr val="334155"/>
                </a:solidFill>
                <a:latin typeface="Aptos"/>
              </a:defRPr>
            </a:pPr>
            <a:r>
              <a:t>• Signe un kilométrage croissant et saisit ses pleins.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755380" y="1664208"/>
            <a:ext cx="2491740" cy="44348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919972" y="1847088"/>
            <a:ext cx="73152" cy="4069079"/>
          </a:xfrm>
          <a:prstGeom prst="round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39428" y="1865376"/>
            <a:ext cx="1924812" cy="384048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/>
            <a:r>
              <a:rPr sz="1500" b="1">
                <a:solidFill>
                  <a:srgbClr val="0F172A"/>
                </a:solidFill>
                <a:latin typeface="Aptos"/>
              </a:rPr>
              <a:t>Garage / Auditeur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39428" y="2322576"/>
            <a:ext cx="1924812" cy="359359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200">
                <a:solidFill>
                  <a:srgbClr val="334155"/>
                </a:solidFill>
                <a:latin typeface="Aptos"/>
              </a:defRPr>
            </a:pPr>
            <a:r>
              <a:t>• Garage : maintenance après certification on-chain.</a:t>
            </a:r>
          </a:p>
          <a:p>
            <a:pPr>
              <a:spcAft>
                <a:spcPts val="700"/>
              </a:spcAft>
              <a:defRPr sz="1200">
                <a:solidFill>
                  <a:srgbClr val="334155"/>
                </a:solidFill>
                <a:latin typeface="Aptos"/>
              </a:defRPr>
            </a:pPr>
            <a:r>
              <a:t>• Auditeur-acheteur : lecture publique et acceptation de vente.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6473952"/>
            <a:ext cx="10972800" cy="201168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/>
            <a:r>
              <a:rPr sz="800" b="0">
                <a:solidFill>
                  <a:srgbClr val="94A3B8"/>
                </a:solidFill>
                <a:latin typeface="Aptos"/>
              </a:rPr>
              <a:t>AutoChain Emma+  |  Guide utilisateur  |  Juillet 2026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8961120" cy="32004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/>
            <a:r>
              <a:rPr sz="1000" b="1">
                <a:solidFill>
                  <a:srgbClr val="818CF8"/>
                </a:solidFill>
                <a:latin typeface="Aptos"/>
              </a:rPr>
              <a:t>IDENTITÉ WEB3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789920" cy="64008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/>
            <a:r>
              <a:rPr sz="2800" b="1">
                <a:solidFill>
                  <a:srgbClr val="0F172A"/>
                </a:solidFill>
                <a:latin typeface="Aptos"/>
              </a:rPr>
              <a:t>Lier MetaMask au compte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347472"/>
            <a:ext cx="411480" cy="32004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r"/>
            <a:r>
              <a:rPr sz="1100" b="1">
                <a:solidFill>
                  <a:srgbClr val="4F46E5"/>
                </a:solidFill>
                <a:latin typeface="Aptos"/>
              </a:rPr>
              <a:t>05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353312"/>
            <a:ext cx="10972800" cy="3200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94360" y="1664208"/>
            <a:ext cx="3398520" cy="44348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58952" y="1847088"/>
            <a:ext cx="73152" cy="4069079"/>
          </a:xfrm>
          <a:prstGeom prst="round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78408" y="1865376"/>
            <a:ext cx="2831592" cy="384048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/>
            <a:r>
              <a:rPr sz="1500" b="1">
                <a:solidFill>
                  <a:srgbClr val="0F172A"/>
                </a:solidFill>
                <a:latin typeface="Aptos"/>
              </a:rPr>
              <a:t>Préparer MetaMask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8408" y="2322576"/>
            <a:ext cx="2831592" cy="359359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200">
                <a:solidFill>
                  <a:srgbClr val="334155"/>
                </a:solidFill>
                <a:latin typeface="Aptos"/>
              </a:defRPr>
            </a:pPr>
            <a:r>
              <a:t>• Choisir le réseau demandé.</a:t>
            </a:r>
          </a:p>
          <a:p>
            <a:pPr>
              <a:spcAft>
                <a:spcPts val="700"/>
              </a:spcAft>
              <a:defRPr sz="1200">
                <a:solidFill>
                  <a:srgbClr val="334155"/>
                </a:solidFill>
                <a:latin typeface="Aptos"/>
              </a:defRPr>
            </a:pPr>
            <a:r>
              <a:t>• Sélectionner le compte correspondant au rôle.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21480" y="1664208"/>
            <a:ext cx="3398520" cy="44348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386072" y="1847088"/>
            <a:ext cx="73152" cy="4069079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05528" y="1865376"/>
            <a:ext cx="2831592" cy="384048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/>
            <a:r>
              <a:rPr sz="1500" b="1">
                <a:solidFill>
                  <a:srgbClr val="0F172A"/>
                </a:solidFill>
                <a:latin typeface="Aptos"/>
              </a:rPr>
              <a:t>Signer le challenge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05528" y="2322576"/>
            <a:ext cx="2831592" cy="359359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200">
                <a:solidFill>
                  <a:srgbClr val="334155"/>
                </a:solidFill>
                <a:latin typeface="Aptos"/>
              </a:defRPr>
            </a:pPr>
            <a:r>
              <a:t>• Profil → Wallet MetaMask → Lier MetaMask.</a:t>
            </a:r>
          </a:p>
          <a:p>
            <a:pPr>
              <a:spcAft>
                <a:spcPts val="700"/>
              </a:spcAft>
              <a:defRPr sz="1200">
                <a:solidFill>
                  <a:srgbClr val="334155"/>
                </a:solidFill>
                <a:latin typeface="Aptos"/>
              </a:defRPr>
            </a:pPr>
            <a:r>
              <a:t>• Le challenge expire après cinq minutes et ne coûte aucun ETH.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848600" y="1664208"/>
            <a:ext cx="3398520" cy="44348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013192" y="1847088"/>
            <a:ext cx="73152" cy="4069079"/>
          </a:xfrm>
          <a:prstGeom prst="round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32648" y="1865376"/>
            <a:ext cx="2831592" cy="384048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/>
            <a:r>
              <a:rPr sz="1500" b="1">
                <a:solidFill>
                  <a:srgbClr val="0F172A"/>
                </a:solidFill>
                <a:latin typeface="Aptos"/>
              </a:rPr>
              <a:t>Contrôle automatique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32648" y="2322576"/>
            <a:ext cx="2831592" cy="359359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200">
                <a:solidFill>
                  <a:srgbClr val="334155"/>
                </a:solidFill>
                <a:latin typeface="Aptos"/>
              </a:defRPr>
            </a:pPr>
            <a:r>
              <a:t>• L’adresse récupérée doit correspondre à la signature.</a:t>
            </a:r>
          </a:p>
          <a:p>
            <a:pPr>
              <a:spcAft>
                <a:spcPts val="700"/>
              </a:spcAft>
              <a:defRPr sz="1200">
                <a:solidFill>
                  <a:srgbClr val="334155"/>
                </a:solidFill>
                <a:latin typeface="Aptos"/>
              </a:defRPr>
            </a:pPr>
            <a:r>
              <a:t>• Un wallet ne peut être lié qu’à un seul compte AutoChain.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6473952"/>
            <a:ext cx="10972800" cy="201168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/>
            <a:r>
              <a:rPr sz="800" b="0">
                <a:solidFill>
                  <a:srgbClr val="94A3B8"/>
                </a:solidFill>
                <a:latin typeface="Aptos"/>
              </a:rPr>
              <a:t>AutoChain Emma+  |  Guide utilisateur  |  Juillet 2026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8961120" cy="32004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/>
            <a:r>
              <a:rPr sz="1000" b="1">
                <a:solidFill>
                  <a:srgbClr val="818CF8"/>
                </a:solidFill>
                <a:latin typeface="Aptos"/>
              </a:rPr>
              <a:t>SUPER ADMIN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789920" cy="64008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/>
            <a:r>
              <a:rPr sz="2800" b="1">
                <a:solidFill>
                  <a:srgbClr val="0F172A"/>
                </a:solidFill>
                <a:latin typeface="Aptos"/>
              </a:rPr>
              <a:t>Créer et gérer un véhicule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347472"/>
            <a:ext cx="411480" cy="32004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r"/>
            <a:r>
              <a:rPr sz="1100" b="1">
                <a:solidFill>
                  <a:srgbClr val="4F46E5"/>
                </a:solidFill>
                <a:latin typeface="Aptos"/>
              </a:rPr>
              <a:t>06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353312"/>
            <a:ext cx="10972800" cy="3200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94360" y="1664208"/>
            <a:ext cx="3398520" cy="44348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58952" y="1847088"/>
            <a:ext cx="73152" cy="4069079"/>
          </a:xfrm>
          <a:prstGeom prst="round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78408" y="1865376"/>
            <a:ext cx="2831592" cy="384048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/>
            <a:r>
              <a:rPr sz="1500" b="1">
                <a:solidFill>
                  <a:srgbClr val="0F172A"/>
                </a:solidFill>
                <a:latin typeface="Aptos"/>
              </a:rPr>
              <a:t>Créer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8408" y="2322576"/>
            <a:ext cx="2831592" cy="359359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200">
                <a:solidFill>
                  <a:srgbClr val="334155"/>
                </a:solidFill>
                <a:latin typeface="Aptos"/>
              </a:defRPr>
            </a:pPr>
            <a:r>
              <a:t>• Véhicules → Ajouter un véhicule.</a:t>
            </a:r>
          </a:p>
          <a:p>
            <a:pPr>
              <a:spcAft>
                <a:spcPts val="700"/>
              </a:spcAft>
              <a:defRPr sz="1200">
                <a:solidFill>
                  <a:srgbClr val="334155"/>
                </a:solidFill>
                <a:latin typeface="Aptos"/>
              </a:defRPr>
            </a:pPr>
            <a:r>
              <a:t>• Renseigner VIN, immatriculation, fiche administrative et photo.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21480" y="1664208"/>
            <a:ext cx="3398520" cy="44348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386072" y="1847088"/>
            <a:ext cx="73152" cy="4069079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05528" y="1865376"/>
            <a:ext cx="2831592" cy="384048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/>
            <a:r>
              <a:rPr sz="1500" b="1">
                <a:solidFill>
                  <a:srgbClr val="0F172A"/>
                </a:solidFill>
                <a:latin typeface="Aptos"/>
              </a:rPr>
              <a:t>Signer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05528" y="2322576"/>
            <a:ext cx="2831592" cy="359359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200">
                <a:solidFill>
                  <a:srgbClr val="334155"/>
                </a:solidFill>
                <a:latin typeface="Aptos"/>
              </a:defRPr>
            </a:pPr>
            <a:r>
              <a:t>• MetaMask affiche registerVehicle.</a:t>
            </a:r>
          </a:p>
          <a:p>
            <a:pPr>
              <a:spcAft>
                <a:spcPts val="700"/>
              </a:spcAft>
              <a:defRPr sz="1200">
                <a:solidFill>
                  <a:srgbClr val="334155"/>
                </a:solidFill>
                <a:latin typeface="Aptos"/>
              </a:defRPr>
            </a:pPr>
            <a:r>
              <a:t>• Après confirmation, VehicleRegistered apparaît dans la timeline.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848600" y="1664208"/>
            <a:ext cx="3398520" cy="44348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013192" y="1847088"/>
            <a:ext cx="73152" cy="4069079"/>
          </a:xfrm>
          <a:prstGeom prst="round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32648" y="1865376"/>
            <a:ext cx="2831592" cy="384048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/>
            <a:r>
              <a:rPr sz="1500" b="1">
                <a:solidFill>
                  <a:srgbClr val="0F172A"/>
                </a:solidFill>
                <a:latin typeface="Aptos"/>
              </a:rPr>
              <a:t>Affecter / statut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32648" y="2322576"/>
            <a:ext cx="2831592" cy="359359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200">
                <a:solidFill>
                  <a:srgbClr val="334155"/>
                </a:solidFill>
                <a:latin typeface="Aptos"/>
              </a:defRPr>
            </a:pPr>
            <a:r>
              <a:t>• Affecter un chauffeur dont le wallet est vérifié.</a:t>
            </a:r>
          </a:p>
          <a:p>
            <a:pPr>
              <a:spcAft>
                <a:spcPts val="700"/>
              </a:spcAft>
              <a:defRPr sz="1200">
                <a:solidFill>
                  <a:srgbClr val="334155"/>
                </a:solidFill>
                <a:latin typeface="Aptos"/>
              </a:defRPr>
            </a:pPr>
            <a:r>
              <a:t>• Signer les statuts critiques : maintenance ou panne.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6473952"/>
            <a:ext cx="10972800" cy="201168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/>
            <a:r>
              <a:rPr sz="800" b="0">
                <a:solidFill>
                  <a:srgbClr val="94A3B8"/>
                </a:solidFill>
                <a:latin typeface="Aptos"/>
              </a:rPr>
              <a:t>AutoChain Emma+  |  Guide utilisateur  |  Juillet 2026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8961120" cy="32004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/>
            <a:r>
              <a:rPr sz="1000" b="1">
                <a:solidFill>
                  <a:srgbClr val="818CF8"/>
                </a:solidFill>
                <a:latin typeface="Aptos"/>
              </a:rPr>
              <a:t>CHAUFFEUR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789920" cy="64008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/>
            <a:r>
              <a:rPr sz="2800" b="1">
                <a:solidFill>
                  <a:srgbClr val="0F172A"/>
                </a:solidFill>
                <a:latin typeface="Aptos"/>
              </a:rPr>
              <a:t>Kilométrage et carburant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347472"/>
            <a:ext cx="411480" cy="32004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r"/>
            <a:r>
              <a:rPr sz="1100" b="1">
                <a:solidFill>
                  <a:srgbClr val="4F46E5"/>
                </a:solidFill>
                <a:latin typeface="Aptos"/>
              </a:rPr>
              <a:t>07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353312"/>
            <a:ext cx="10972800" cy="3200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94360" y="1664208"/>
            <a:ext cx="3398520" cy="44348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58952" y="1847088"/>
            <a:ext cx="73152" cy="4069079"/>
          </a:xfrm>
          <a:prstGeom prst="round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78408" y="1865376"/>
            <a:ext cx="2831592" cy="384048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/>
            <a:r>
              <a:rPr sz="1500" b="1">
                <a:solidFill>
                  <a:srgbClr val="0F172A"/>
                </a:solidFill>
                <a:latin typeface="Aptos"/>
              </a:rPr>
              <a:t>Kilométrage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8408" y="2322576"/>
            <a:ext cx="2831592" cy="359359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200">
                <a:solidFill>
                  <a:srgbClr val="334155"/>
                </a:solidFill>
                <a:latin typeface="Aptos"/>
              </a:defRPr>
            </a:pPr>
            <a:r>
              <a:t>• Ouvrir le véhicule affecté.</a:t>
            </a:r>
          </a:p>
          <a:p>
            <a:pPr>
              <a:spcAft>
                <a:spcPts val="700"/>
              </a:spcAft>
              <a:defRPr sz="1200">
                <a:solidFill>
                  <a:srgbClr val="334155"/>
                </a:solidFill>
                <a:latin typeface="Aptos"/>
              </a:defRPr>
            </a:pPr>
            <a:r>
              <a:t>• Saisir une valeur strictement supérieure au dernier relevé.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21480" y="1664208"/>
            <a:ext cx="3398520" cy="44348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386072" y="1847088"/>
            <a:ext cx="73152" cy="4069079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05528" y="1865376"/>
            <a:ext cx="2831592" cy="384048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/>
            <a:r>
              <a:rPr sz="1500" b="1">
                <a:solidFill>
                  <a:srgbClr val="0F172A"/>
                </a:solidFill>
                <a:latin typeface="Aptos"/>
              </a:rPr>
              <a:t>Certification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05528" y="2322576"/>
            <a:ext cx="2831592" cy="359359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200">
                <a:solidFill>
                  <a:srgbClr val="334155"/>
                </a:solidFill>
                <a:latin typeface="Aptos"/>
              </a:defRPr>
            </a:pPr>
            <a:r>
              <a:t>• Signer updateMileage avec le wallet du chauffeur.</a:t>
            </a:r>
          </a:p>
          <a:p>
            <a:pPr>
              <a:spcAft>
                <a:spcPts val="700"/>
              </a:spcAft>
              <a:defRPr sz="1200">
                <a:solidFill>
                  <a:srgbClr val="334155"/>
                </a:solidFill>
                <a:latin typeface="Aptos"/>
              </a:defRPr>
            </a:pPr>
            <a:r>
              <a:t>• La valeur change seulement après MileageUpdated.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848600" y="1664208"/>
            <a:ext cx="3398520" cy="44348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013192" y="1847088"/>
            <a:ext cx="73152" cy="4069079"/>
          </a:xfrm>
          <a:prstGeom prst="round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32648" y="1865376"/>
            <a:ext cx="2831592" cy="384048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/>
            <a:r>
              <a:rPr sz="1500" b="1">
                <a:solidFill>
                  <a:srgbClr val="0F172A"/>
                </a:solidFill>
                <a:latin typeface="Aptos"/>
              </a:rPr>
              <a:t>Plein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32648" y="2322576"/>
            <a:ext cx="2831592" cy="359359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200">
                <a:solidFill>
                  <a:srgbClr val="334155"/>
                </a:solidFill>
                <a:latin typeface="Aptos"/>
              </a:defRPr>
            </a:pPr>
            <a:r>
              <a:t>• Carburant → Saisir un plein.</a:t>
            </a:r>
          </a:p>
          <a:p>
            <a:pPr>
              <a:spcAft>
                <a:spcPts val="700"/>
              </a:spcAft>
              <a:defRPr sz="1200">
                <a:solidFill>
                  <a:srgbClr val="334155"/>
                </a:solidFill>
                <a:latin typeface="Aptos"/>
              </a:defRPr>
            </a:pPr>
            <a:r>
              <a:t>• Date, litres, montant, station et compteur cohérent.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6473952"/>
            <a:ext cx="10972800" cy="201168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/>
            <a:r>
              <a:rPr sz="800" b="0">
                <a:solidFill>
                  <a:srgbClr val="94A3B8"/>
                </a:solidFill>
                <a:latin typeface="Aptos"/>
              </a:rPr>
              <a:t>AutoChain Emma+  |  Guide utilisateur  |  Juillet 2026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8961120" cy="32004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/>
            <a:r>
              <a:rPr sz="1000" b="1">
                <a:solidFill>
                  <a:srgbClr val="818CF8"/>
                </a:solidFill>
                <a:latin typeface="Aptos"/>
              </a:rPr>
              <a:t>GARAGE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789920" cy="64008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/>
            <a:r>
              <a:rPr sz="2800" b="1">
                <a:solidFill>
                  <a:srgbClr val="0F172A"/>
                </a:solidFill>
                <a:latin typeface="Aptos"/>
              </a:rPr>
              <a:t>Enregistrer une maintenance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347472"/>
            <a:ext cx="411480" cy="32004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r"/>
            <a:r>
              <a:rPr sz="1100" b="1">
                <a:solidFill>
                  <a:srgbClr val="4F46E5"/>
                </a:solidFill>
                <a:latin typeface="Aptos"/>
              </a:rPr>
              <a:t>08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353312"/>
            <a:ext cx="10972800" cy="3200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94360" y="1664208"/>
            <a:ext cx="3398520" cy="44348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58952" y="1847088"/>
            <a:ext cx="73152" cy="4069079"/>
          </a:xfrm>
          <a:prstGeom prst="round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78408" y="1865376"/>
            <a:ext cx="2831592" cy="384048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/>
            <a:r>
              <a:rPr sz="1500" b="1">
                <a:solidFill>
                  <a:srgbClr val="0F172A"/>
                </a:solidFill>
                <a:latin typeface="Aptos"/>
              </a:rPr>
              <a:t>Certification préalable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8408" y="2322576"/>
            <a:ext cx="2831592" cy="359359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200">
                <a:solidFill>
                  <a:srgbClr val="334155"/>
                </a:solidFill>
                <a:latin typeface="Aptos"/>
              </a:defRPr>
            </a:pPr>
            <a:r>
              <a:t>• Le Super Admin certifie le wallet du garage on-chain.</a:t>
            </a:r>
          </a:p>
          <a:p>
            <a:pPr>
              <a:spcAft>
                <a:spcPts val="700"/>
              </a:spcAft>
              <a:defRPr sz="1200">
                <a:solidFill>
                  <a:srgbClr val="334155"/>
                </a:solidFill>
                <a:latin typeface="Aptos"/>
              </a:defRPr>
            </a:pPr>
            <a:r>
              <a:t>• Sans cette étape, aucune maintenance ne peut être signée.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21480" y="1664208"/>
            <a:ext cx="3398520" cy="44348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386072" y="1847088"/>
            <a:ext cx="73152" cy="4069079"/>
          </a:xfrm>
          <a:prstGeom prst="round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05528" y="1865376"/>
            <a:ext cx="2831592" cy="384048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/>
            <a:r>
              <a:rPr sz="1500" b="1">
                <a:solidFill>
                  <a:srgbClr val="0F172A"/>
                </a:solidFill>
                <a:latin typeface="Aptos"/>
              </a:rPr>
              <a:t>Intervention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05528" y="2322576"/>
            <a:ext cx="2831592" cy="359359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200">
                <a:solidFill>
                  <a:srgbClr val="334155"/>
                </a:solidFill>
                <a:latin typeface="Aptos"/>
              </a:defRPr>
            </a:pPr>
            <a:r>
              <a:t>• Maintenance → Nouvelle maintenance.</a:t>
            </a:r>
          </a:p>
          <a:p>
            <a:pPr>
              <a:spcAft>
                <a:spcPts val="700"/>
              </a:spcAft>
              <a:defRPr sz="1200">
                <a:solidFill>
                  <a:srgbClr val="334155"/>
                </a:solidFill>
                <a:latin typeface="Aptos"/>
              </a:defRPr>
            </a:pPr>
            <a:r>
              <a:t>• Utiliser exactement le dernier kilométrage certifié.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848600" y="1664208"/>
            <a:ext cx="3398520" cy="44348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013192" y="1847088"/>
            <a:ext cx="73152" cy="4069079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32648" y="1865376"/>
            <a:ext cx="2831592" cy="384048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/>
            <a:r>
              <a:rPr sz="1500" b="1">
                <a:solidFill>
                  <a:srgbClr val="0F172A"/>
                </a:solidFill>
                <a:latin typeface="Aptos"/>
              </a:rPr>
              <a:t>Preuve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32648" y="2322576"/>
            <a:ext cx="2831592" cy="359359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200">
                <a:solidFill>
                  <a:srgbClr val="334155"/>
                </a:solidFill>
                <a:latin typeface="Aptos"/>
              </a:defRPr>
            </a:pPr>
            <a:r>
              <a:t>• Le détail canonique produit un SHA-256 déterministe.</a:t>
            </a:r>
          </a:p>
          <a:p>
            <a:pPr>
              <a:spcAft>
                <a:spcPts val="700"/>
              </a:spcAft>
              <a:defRPr sz="1200">
                <a:solidFill>
                  <a:srgbClr val="334155"/>
                </a:solidFill>
                <a:latin typeface="Aptos"/>
              </a:defRPr>
            </a:pPr>
            <a:r>
              <a:t>• MaintenanceRecorded confirme le garage, le hash et le kilométrage.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6473952"/>
            <a:ext cx="10972800" cy="201168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/>
            <a:r>
              <a:rPr sz="800" b="0">
                <a:solidFill>
                  <a:srgbClr val="94A3B8"/>
                </a:solidFill>
                <a:latin typeface="Aptos"/>
              </a:rPr>
              <a:t>AutoChain Emma+  |  Guide utilisateur  |  Juillet 2026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8961120" cy="32004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/>
            <a:r>
              <a:rPr sz="1000" b="1">
                <a:solidFill>
                  <a:srgbClr val="818CF8"/>
                </a:solidFill>
                <a:latin typeface="Aptos"/>
              </a:rPr>
              <a:t>DOCUMENTS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789920" cy="64008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/>
            <a:r>
              <a:rPr sz="2800" b="1">
                <a:solidFill>
                  <a:srgbClr val="0F172A"/>
                </a:solidFill>
                <a:latin typeface="Aptos"/>
              </a:rPr>
              <a:t>Documents, IPFS et alertes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347472"/>
            <a:ext cx="411480" cy="32004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r"/>
            <a:r>
              <a:rPr sz="1100" b="1">
                <a:solidFill>
                  <a:srgbClr val="4F46E5"/>
                </a:solidFill>
                <a:latin typeface="Aptos"/>
              </a:rPr>
              <a:t>09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353312"/>
            <a:ext cx="10972800" cy="3200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94360" y="1664208"/>
            <a:ext cx="3398520" cy="44348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58952" y="1847088"/>
            <a:ext cx="73152" cy="4069079"/>
          </a:xfrm>
          <a:prstGeom prst="round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78408" y="1865376"/>
            <a:ext cx="2831592" cy="384048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/>
            <a:r>
              <a:rPr sz="1500" b="1">
                <a:solidFill>
                  <a:srgbClr val="0F172A"/>
                </a:solidFill>
                <a:latin typeface="Aptos"/>
              </a:rPr>
              <a:t>Documents privés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8408" y="2322576"/>
            <a:ext cx="2831592" cy="359359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200">
                <a:solidFill>
                  <a:srgbClr val="334155"/>
                </a:solidFill>
                <a:latin typeface="Aptos"/>
              </a:defRPr>
            </a:pPr>
            <a:r>
              <a:t>• Allowlist PDF/JPEG/PNG/WebP.</a:t>
            </a:r>
          </a:p>
          <a:p>
            <a:pPr>
              <a:spcAft>
                <a:spcPts val="700"/>
              </a:spcAft>
              <a:defRPr sz="1200">
                <a:solidFill>
                  <a:srgbClr val="334155"/>
                </a:solidFill>
                <a:latin typeface="Aptos"/>
              </a:defRPr>
            </a:pPr>
            <a:r>
              <a:t>• SHA-256 vérifié avant chaque téléchargement et accès journalisé.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21480" y="1664208"/>
            <a:ext cx="3398520" cy="44348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386072" y="1847088"/>
            <a:ext cx="73152" cy="4069079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05528" y="1865376"/>
            <a:ext cx="2831592" cy="384048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/>
            <a:r>
              <a:rPr sz="1500" b="1">
                <a:solidFill>
                  <a:srgbClr val="0F172A"/>
                </a:solidFill>
                <a:latin typeface="Aptos"/>
              </a:rPr>
              <a:t>Publication IPFS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05528" y="2322576"/>
            <a:ext cx="2831592" cy="359359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200">
                <a:solidFill>
                  <a:srgbClr val="334155"/>
                </a:solidFill>
                <a:latin typeface="Aptos"/>
              </a:defRPr>
            </a:pPr>
            <a:r>
              <a:t>• Le document devient public seulement après CID valide et pinning.</a:t>
            </a:r>
          </a:p>
          <a:p>
            <a:pPr>
              <a:spcAft>
                <a:spcPts val="700"/>
              </a:spcAft>
              <a:defRPr sz="1200">
                <a:solidFill>
                  <a:srgbClr val="334155"/>
                </a:solidFill>
                <a:latin typeface="Aptos"/>
              </a:defRPr>
            </a:pPr>
            <a:r>
              <a:t>• Le lien gateway est affiché dans l’interface.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848600" y="1664208"/>
            <a:ext cx="3398520" cy="44348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013192" y="1847088"/>
            <a:ext cx="73152" cy="4069079"/>
          </a:xfrm>
          <a:prstGeom prst="round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32648" y="1865376"/>
            <a:ext cx="2831592" cy="384048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/>
            <a:r>
              <a:rPr sz="1500" b="1">
                <a:solidFill>
                  <a:srgbClr val="0F172A"/>
                </a:solidFill>
                <a:latin typeface="Aptos"/>
              </a:rPr>
              <a:t>Alertes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32648" y="2322576"/>
            <a:ext cx="2831592" cy="359359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200">
                <a:solidFill>
                  <a:srgbClr val="334155"/>
                </a:solidFill>
                <a:latin typeface="Aptos"/>
              </a:defRPr>
            </a:pPr>
            <a:r>
              <a:t>• Contrôle technique, assurance, entretien et seuil kilométrique.</a:t>
            </a:r>
          </a:p>
          <a:p>
            <a:pPr>
              <a:spcAft>
                <a:spcPts val="700"/>
              </a:spcAft>
              <a:defRPr sz="1200">
                <a:solidFill>
                  <a:srgbClr val="334155"/>
                </a:solidFill>
                <a:latin typeface="Aptos"/>
              </a:defRPr>
            </a:pPr>
            <a:r>
              <a:t>• Déduplication automatique et notification e-mail.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6473952"/>
            <a:ext cx="10972800" cy="201168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/>
            <a:r>
              <a:rPr sz="800" b="0">
                <a:solidFill>
                  <a:srgbClr val="94A3B8"/>
                </a:solidFill>
                <a:latin typeface="Aptos"/>
              </a:rPr>
              <a:t>AutoChain Emma+  |  Guide utilisateur  |  Juillet 2026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8961120" cy="32004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/>
            <a:r>
              <a:rPr sz="1000" b="1">
                <a:solidFill>
                  <a:srgbClr val="818CF8"/>
                </a:solidFill>
                <a:latin typeface="Aptos"/>
              </a:rPr>
              <a:t>VENTE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789920" cy="64008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/>
            <a:r>
              <a:rPr sz="2800" b="1">
                <a:solidFill>
                  <a:srgbClr val="0F172A"/>
                </a:solidFill>
                <a:latin typeface="Aptos"/>
              </a:rPr>
              <a:t>Double validation du transfert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347472"/>
            <a:ext cx="411480" cy="32004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r"/>
            <a:r>
              <a:rPr sz="1100" b="1">
                <a:solidFill>
                  <a:srgbClr val="4F46E5"/>
                </a:solidFill>
                <a:latin typeface="Aptos"/>
              </a:rPr>
              <a:t>10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353312"/>
            <a:ext cx="10972800" cy="3200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94360" y="1664208"/>
            <a:ext cx="3398520" cy="44348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58952" y="1847088"/>
            <a:ext cx="73152" cy="4069079"/>
          </a:xfrm>
          <a:prstGeom prst="round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78408" y="1865376"/>
            <a:ext cx="2831592" cy="384048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/>
            <a:r>
              <a:rPr sz="1500" b="1">
                <a:solidFill>
                  <a:srgbClr val="0F172A"/>
                </a:solidFill>
                <a:latin typeface="Aptos"/>
              </a:rPr>
              <a:t>Proposition Admin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8408" y="2322576"/>
            <a:ext cx="2831592" cy="359359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200">
                <a:solidFill>
                  <a:srgbClr val="334155"/>
                </a:solidFill>
                <a:latin typeface="Aptos"/>
              </a:defRPr>
            </a:pPr>
            <a:r>
              <a:t>• Plus → Ventes → Nouvelle vente.</a:t>
            </a:r>
          </a:p>
          <a:p>
            <a:pPr>
              <a:spcAft>
                <a:spcPts val="700"/>
              </a:spcAft>
              <a:defRPr sz="1200">
                <a:solidFill>
                  <a:srgbClr val="334155"/>
                </a:solidFill>
                <a:latin typeface="Aptos"/>
              </a:defRPr>
            </a:pPr>
            <a:r>
              <a:t>• Choisir le véhicule et l’acheteur dont le wallet est vérifié.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21480" y="1664208"/>
            <a:ext cx="3398520" cy="44348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386072" y="1847088"/>
            <a:ext cx="73152" cy="4069079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05528" y="1865376"/>
            <a:ext cx="2831592" cy="384048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/>
            <a:r>
              <a:rPr sz="1500" b="1">
                <a:solidFill>
                  <a:srgbClr val="0F172A"/>
                </a:solidFill>
                <a:latin typeface="Aptos"/>
              </a:rPr>
              <a:t>Acceptation Acheteur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05528" y="2322576"/>
            <a:ext cx="2831592" cy="359359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200">
                <a:solidFill>
                  <a:srgbClr val="334155"/>
                </a:solidFill>
                <a:latin typeface="Aptos"/>
              </a:defRPr>
            </a:pPr>
            <a:r>
              <a:t>• L’acheteur voit uniquement ses ventes.</a:t>
            </a:r>
          </a:p>
          <a:p>
            <a:pPr>
              <a:spcAft>
                <a:spcPts val="700"/>
              </a:spcAft>
              <a:defRPr sz="1200">
                <a:solidFill>
                  <a:srgbClr val="334155"/>
                </a:solidFill>
                <a:latin typeface="Aptos"/>
              </a:defRPr>
            </a:pPr>
            <a:r>
              <a:t>• Seul le wallet exact peut appeler acceptTransfer.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848600" y="1664208"/>
            <a:ext cx="3398520" cy="44348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013192" y="1847088"/>
            <a:ext cx="73152" cy="4069079"/>
          </a:xfrm>
          <a:prstGeom prst="round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32648" y="1865376"/>
            <a:ext cx="2831592" cy="384048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/>
            <a:r>
              <a:rPr sz="1500" b="1">
                <a:solidFill>
                  <a:srgbClr val="0F172A"/>
                </a:solidFill>
                <a:latin typeface="Aptos"/>
              </a:rPr>
              <a:t>Finalisation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32648" y="2322576"/>
            <a:ext cx="2831592" cy="359359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200">
                <a:solidFill>
                  <a:srgbClr val="334155"/>
                </a:solidFill>
                <a:latin typeface="Aptos"/>
              </a:defRPr>
            </a:pPr>
            <a:r>
              <a:t>• Le véhicule devient sold après TransferAccepted.</a:t>
            </a:r>
          </a:p>
          <a:p>
            <a:pPr>
              <a:spcAft>
                <a:spcPts val="700"/>
              </a:spcAft>
              <a:defRPr sz="1200">
                <a:solidFill>
                  <a:srgbClr val="334155"/>
                </a:solidFill>
                <a:latin typeface="Aptos"/>
              </a:defRPr>
            </a:pPr>
            <a:r>
              <a:t>• Le chauffeur est retiré et les deux hashes restent auditables.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6473952"/>
            <a:ext cx="10972800" cy="201168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/>
            <a:r>
              <a:rPr sz="800" b="0">
                <a:solidFill>
                  <a:srgbClr val="94A3B8"/>
                </a:solidFill>
                <a:latin typeface="Aptos"/>
              </a:rPr>
              <a:t>AutoChain Emma+  |  Guide utilisateur  |  Juillet 2026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8961120" cy="32004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/>
            <a:r>
              <a:rPr sz="1000" b="1">
                <a:solidFill>
                  <a:srgbClr val="818CF8"/>
                </a:solidFill>
                <a:latin typeface="Aptos"/>
              </a:rPr>
              <a:t>TRAÇABILITÉ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789920" cy="64008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/>
            <a:r>
              <a:rPr sz="2800" b="1">
                <a:solidFill>
                  <a:srgbClr val="0F172A"/>
                </a:solidFill>
                <a:latin typeface="Aptos"/>
              </a:rPr>
              <a:t>Lire les états et la timeline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347472"/>
            <a:ext cx="411480" cy="32004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r"/>
            <a:r>
              <a:rPr sz="1100" b="1">
                <a:solidFill>
                  <a:srgbClr val="4F46E5"/>
                </a:solidFill>
                <a:latin typeface="Aptos"/>
              </a:rPr>
              <a:t>11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353312"/>
            <a:ext cx="10972800" cy="3200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94360" y="1664208"/>
            <a:ext cx="2491740" cy="44348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58952" y="1847088"/>
            <a:ext cx="73152" cy="4069079"/>
          </a:xfrm>
          <a:prstGeom prst="round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78408" y="1865376"/>
            <a:ext cx="1924812" cy="384048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/>
            <a:r>
              <a:rPr sz="1500" b="1">
                <a:solidFill>
                  <a:srgbClr val="0F172A"/>
                </a:solidFill>
                <a:latin typeface="Aptos"/>
              </a:rPr>
              <a:t>pending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8408" y="2322576"/>
            <a:ext cx="1924812" cy="359359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200">
                <a:solidFill>
                  <a:srgbClr val="334155"/>
                </a:solidFill>
                <a:latin typeface="Aptos"/>
              </a:defRPr>
            </a:pPr>
            <a:r>
              <a:t>• Demande créée dans Laravel.</a:t>
            </a:r>
          </a:p>
          <a:p>
            <a:pPr>
              <a:spcAft>
                <a:spcPts val="700"/>
              </a:spcAft>
              <a:defRPr sz="1200">
                <a:solidFill>
                  <a:srgbClr val="334155"/>
                </a:solidFill>
                <a:latin typeface="Aptos"/>
              </a:defRPr>
            </a:pPr>
            <a:r>
              <a:t>• Aucune certification n’est encore annoncée.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14700" y="1664208"/>
            <a:ext cx="2491740" cy="44348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479292" y="1847088"/>
            <a:ext cx="73152" cy="4069079"/>
          </a:xfrm>
          <a:prstGeom prst="round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98748" y="1865376"/>
            <a:ext cx="1924812" cy="384048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/>
            <a:r>
              <a:rPr sz="1500" b="1">
                <a:solidFill>
                  <a:srgbClr val="0F172A"/>
                </a:solidFill>
                <a:latin typeface="Aptos"/>
              </a:rPr>
              <a:t>submitted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98748" y="2322576"/>
            <a:ext cx="1924812" cy="359359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200">
                <a:solidFill>
                  <a:srgbClr val="334155"/>
                </a:solidFill>
                <a:latin typeface="Aptos"/>
              </a:defRPr>
            </a:pPr>
            <a:r>
              <a:t>• Transaction envoyée à Ethereum.</a:t>
            </a:r>
          </a:p>
          <a:p>
            <a:pPr>
              <a:spcAft>
                <a:spcPts val="700"/>
              </a:spcAft>
              <a:defRPr sz="1200">
                <a:solidFill>
                  <a:srgbClr val="334155"/>
                </a:solidFill>
                <a:latin typeface="Aptos"/>
              </a:defRPr>
            </a:pPr>
            <a:r>
              <a:t>• Le receipt est encore attendu ou réconcilié en arrière-plan.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35040" y="1664208"/>
            <a:ext cx="2491740" cy="44348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199632" y="1847088"/>
            <a:ext cx="73152" cy="4069079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19088" y="1865376"/>
            <a:ext cx="1924812" cy="384048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/>
            <a:r>
              <a:rPr sz="1500" b="1">
                <a:solidFill>
                  <a:srgbClr val="0F172A"/>
                </a:solidFill>
                <a:latin typeface="Aptos"/>
              </a:rPr>
              <a:t>confirmed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19088" y="2322576"/>
            <a:ext cx="1924812" cy="359359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200">
                <a:solidFill>
                  <a:srgbClr val="334155"/>
                </a:solidFill>
                <a:latin typeface="Aptos"/>
              </a:defRPr>
            </a:pPr>
            <a:r>
              <a:t>• Receipt réussi et événement attendu trouvé.</a:t>
            </a:r>
          </a:p>
          <a:p>
            <a:pPr>
              <a:spcAft>
                <a:spcPts val="700"/>
              </a:spcAft>
              <a:defRPr sz="1200">
                <a:solidFill>
                  <a:srgbClr val="334155"/>
                </a:solidFill>
                <a:latin typeface="Aptos"/>
              </a:defRPr>
            </a:pPr>
            <a:r>
              <a:t>• La donnée certifiée et la timeline sont mises à jour.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755380" y="1664208"/>
            <a:ext cx="2491740" cy="44348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919972" y="1847088"/>
            <a:ext cx="73152" cy="4069079"/>
          </a:xfrm>
          <a:prstGeom prst="round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39428" y="1865376"/>
            <a:ext cx="1924812" cy="384048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/>
            <a:r>
              <a:rPr sz="1500" b="1">
                <a:solidFill>
                  <a:srgbClr val="0F172A"/>
                </a:solidFill>
                <a:latin typeface="Aptos"/>
              </a:rPr>
              <a:t>failed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39428" y="2322576"/>
            <a:ext cx="1924812" cy="359359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200">
                <a:solidFill>
                  <a:srgbClr val="334155"/>
                </a:solidFill>
                <a:latin typeface="Aptos"/>
              </a:defRPr>
            </a:pPr>
            <a:r>
              <a:t>• Réseau, wallet, calldata, revert ou événement invalide.</a:t>
            </a:r>
          </a:p>
          <a:p>
            <a:pPr>
              <a:spcAft>
                <a:spcPts val="700"/>
              </a:spcAft>
              <a:defRPr sz="1200">
                <a:solidFill>
                  <a:srgbClr val="334155"/>
                </a:solidFill>
                <a:latin typeface="Aptos"/>
              </a:defRPr>
            </a:pPr>
            <a:r>
              <a:t>• La preuve n’est jamais marquée certifiée.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6473952"/>
            <a:ext cx="10972800" cy="201168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/>
            <a:r>
              <a:rPr sz="800" b="0">
                <a:solidFill>
                  <a:srgbClr val="94A3B8"/>
                </a:solidFill>
                <a:latin typeface="Aptos"/>
              </a:rPr>
              <a:t>AutoChain Emma+  |  Guide utilisateur  |  Juillet 2026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8961120" cy="32004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/>
            <a:r>
              <a:rPr sz="1000" b="1">
                <a:solidFill>
                  <a:srgbClr val="818CF8"/>
                </a:solidFill>
                <a:latin typeface="Aptos"/>
              </a:rPr>
              <a:t>RÉSEAUX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789920" cy="64008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/>
            <a:r>
              <a:rPr sz="2800" b="1">
                <a:solidFill>
                  <a:srgbClr val="0F172A"/>
                </a:solidFill>
                <a:latin typeface="Aptos"/>
              </a:rPr>
              <a:t>Hardhat local puis Sepolia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347472"/>
            <a:ext cx="411480" cy="32004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r"/>
            <a:r>
              <a:rPr sz="1100" b="1">
                <a:solidFill>
                  <a:srgbClr val="4F46E5"/>
                </a:solidFill>
                <a:latin typeface="Aptos"/>
              </a:rPr>
              <a:t>12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353312"/>
            <a:ext cx="10972800" cy="3200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94360" y="1664208"/>
            <a:ext cx="3398520" cy="44348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58952" y="1847088"/>
            <a:ext cx="73152" cy="4069079"/>
          </a:xfrm>
          <a:prstGeom prst="round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78408" y="1865376"/>
            <a:ext cx="2831592" cy="384048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/>
            <a:r>
              <a:rPr sz="1500" b="1">
                <a:solidFill>
                  <a:srgbClr val="0F172A"/>
                </a:solidFill>
                <a:latin typeface="Aptos"/>
              </a:rPr>
              <a:t>Hardhat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8408" y="2322576"/>
            <a:ext cx="2831592" cy="359359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200">
                <a:solidFill>
                  <a:srgbClr val="334155"/>
                </a:solidFill>
                <a:latin typeface="Aptos"/>
              </a:defRPr>
            </a:pPr>
            <a:r>
              <a:t>• RPC 127.0.0.1:8545, chain ID 31337.</a:t>
            </a:r>
          </a:p>
          <a:p>
            <a:pPr>
              <a:spcAft>
                <a:spcPts val="700"/>
              </a:spcAft>
              <a:defRPr sz="1200">
                <a:solidFill>
                  <a:srgbClr val="334155"/>
                </a:solidFill>
                <a:latin typeface="Aptos"/>
              </a:defRPr>
            </a:pPr>
            <a:r>
              <a:t>• Comptes publics uniquement pour la démonstration locale.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21480" y="1664208"/>
            <a:ext cx="3398520" cy="44348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386072" y="1847088"/>
            <a:ext cx="73152" cy="4069079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05528" y="1865376"/>
            <a:ext cx="2831592" cy="384048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/>
            <a:r>
              <a:rPr sz="1500" b="1">
                <a:solidFill>
                  <a:srgbClr val="0F172A"/>
                </a:solidFill>
                <a:latin typeface="Aptos"/>
              </a:rPr>
              <a:t>Sepolia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05528" y="2322576"/>
            <a:ext cx="2831592" cy="359359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200">
                <a:solidFill>
                  <a:srgbClr val="334155"/>
                </a:solidFill>
                <a:latin typeface="Aptos"/>
              </a:defRPr>
            </a:pPr>
            <a:r>
              <a:t>• Chain ID 11155111 et compte dédié non public.</a:t>
            </a:r>
          </a:p>
          <a:p>
            <a:pPr>
              <a:spcAft>
                <a:spcPts val="700"/>
              </a:spcAft>
              <a:defRPr sz="1200">
                <a:solidFill>
                  <a:srgbClr val="334155"/>
                </a:solidFill>
                <a:latin typeface="Aptos"/>
              </a:defRPr>
            </a:pPr>
            <a:r>
              <a:t>• Chaque signataire paie le gas en Sepolia ETH de test.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848600" y="1664208"/>
            <a:ext cx="3398520" cy="44348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013192" y="1847088"/>
            <a:ext cx="73152" cy="4069079"/>
          </a:xfrm>
          <a:prstGeom prst="round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32648" y="1865376"/>
            <a:ext cx="2831592" cy="384048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/>
            <a:r>
              <a:rPr sz="1500" b="1">
                <a:solidFill>
                  <a:srgbClr val="0F172A"/>
                </a:solidFill>
                <a:latin typeface="Aptos"/>
              </a:rPr>
              <a:t>Interdictions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32648" y="2322576"/>
            <a:ext cx="2831592" cy="359359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200">
                <a:solidFill>
                  <a:srgbClr val="334155"/>
                </a:solidFill>
                <a:latin typeface="Aptos"/>
              </a:defRPr>
            </a:pPr>
            <a:r>
              <a:t>• Ne jamais utiliser une clé Hardhat sur un réseau public.</a:t>
            </a:r>
          </a:p>
          <a:p>
            <a:pPr>
              <a:spcAft>
                <a:spcPts val="700"/>
              </a:spcAft>
              <a:defRPr sz="1200">
                <a:solidFill>
                  <a:srgbClr val="334155"/>
                </a:solidFill>
                <a:latin typeface="Aptos"/>
              </a:defRPr>
            </a:pPr>
            <a:r>
              <a:t>• Ne jamais transmettre clé privée ou phrase de récupération.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6473952"/>
            <a:ext cx="10972800" cy="201168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/>
            <a:r>
              <a:rPr sz="800" b="0">
                <a:solidFill>
                  <a:srgbClr val="94A3B8"/>
                </a:solidFill>
                <a:latin typeface="Aptos"/>
              </a:rPr>
              <a:t>AutoChain Emma+  |  Guide utilisateur  |  Juillet 2026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8961120" cy="32004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/>
            <a:r>
              <a:rPr sz="1000" b="1">
                <a:solidFill>
                  <a:srgbClr val="818CF8"/>
                </a:solidFill>
                <a:latin typeface="Aptos"/>
              </a:rPr>
              <a:t>DÉMARRAGE SEPOLIA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789920" cy="64008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/>
            <a:r>
              <a:rPr sz="2800" b="1">
                <a:solidFill>
                  <a:srgbClr val="0F172A"/>
                </a:solidFill>
                <a:latin typeface="Aptos"/>
              </a:rPr>
              <a:t>Créer son accès et obtenir des Sepolia ETH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347472"/>
            <a:ext cx="411480" cy="32004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r"/>
            <a:r>
              <a:rPr sz="1100" b="1">
                <a:solidFill>
                  <a:srgbClr val="4F46E5"/>
                </a:solidFill>
                <a:latin typeface="Aptos"/>
              </a:rPr>
              <a:t>13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353312"/>
            <a:ext cx="10972800" cy="3200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94360" y="1664208"/>
            <a:ext cx="2491740" cy="44348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58952" y="1847088"/>
            <a:ext cx="73152" cy="4069079"/>
          </a:xfrm>
          <a:prstGeom prst="round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78408" y="1865376"/>
            <a:ext cx="1924812" cy="384048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/>
            <a:r>
              <a:rPr sz="1500" b="1">
                <a:solidFill>
                  <a:srgbClr val="0F172A"/>
                </a:solidFill>
                <a:latin typeface="Aptos"/>
              </a:rPr>
              <a:t>1. Compte AutoChain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8408" y="2322576"/>
            <a:ext cx="1924812" cy="359359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200">
                <a:solidFill>
                  <a:srgbClr val="334155"/>
                </a:solidFill>
                <a:latin typeface="Aptos"/>
              </a:defRPr>
            </a:pPr>
            <a:r>
              <a:t>• Connexion → Créer un compte.</a:t>
            </a:r>
          </a:p>
          <a:p>
            <a:pPr>
              <a:spcAft>
                <a:spcPts val="700"/>
              </a:spcAft>
              <a:defRPr sz="1200">
                <a:solidFill>
                  <a:srgbClr val="334155"/>
                </a:solidFill>
                <a:latin typeface="Aptos"/>
              </a:defRPr>
            </a:pPr>
            <a:r>
              <a:t>• Le nouveau compte est Auditeur ; le Super Admin attribue un autre rôle si nécessaire.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14700" y="1664208"/>
            <a:ext cx="2491740" cy="44348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479292" y="1847088"/>
            <a:ext cx="73152" cy="4069079"/>
          </a:xfrm>
          <a:prstGeom prst="round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98748" y="1865376"/>
            <a:ext cx="1924812" cy="384048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/>
            <a:r>
              <a:rPr sz="1500" b="1">
                <a:solidFill>
                  <a:srgbClr val="0F172A"/>
                </a:solidFill>
                <a:latin typeface="Aptos"/>
              </a:rPr>
              <a:t>2. Wallet MetaMask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98748" y="2322576"/>
            <a:ext cx="1924812" cy="359359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200">
                <a:solidFill>
                  <a:srgbClr val="334155"/>
                </a:solidFill>
                <a:latin typeface="Aptos"/>
              </a:defRPr>
            </a:pPr>
            <a:r>
              <a:t>• Installer depuis metamask.io et créer un compte de test dédié.</a:t>
            </a:r>
          </a:p>
          <a:p>
            <a:pPr>
              <a:spcAft>
                <a:spcPts val="700"/>
              </a:spcAft>
              <a:defRPr sz="1200">
                <a:solidFill>
                  <a:srgbClr val="334155"/>
                </a:solidFill>
                <a:latin typeface="Aptos"/>
              </a:defRPr>
            </a:pPr>
            <a:r>
              <a:t>• Conserver la phrase secrète hors ligne ; ne jamais la communiquer.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35040" y="1664208"/>
            <a:ext cx="2491740" cy="44348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199632" y="1847088"/>
            <a:ext cx="73152" cy="4069079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19088" y="1865376"/>
            <a:ext cx="1924812" cy="384048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/>
            <a:r>
              <a:rPr sz="1500" b="1">
                <a:solidFill>
                  <a:srgbClr val="0F172A"/>
                </a:solidFill>
                <a:latin typeface="Aptos"/>
              </a:rPr>
              <a:t>3. Réseau Sepolia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19088" y="2322576"/>
            <a:ext cx="1924812" cy="359359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200">
                <a:solidFill>
                  <a:srgbClr val="334155"/>
                </a:solidFill>
                <a:latin typeface="Aptos"/>
              </a:defRPr>
            </a:pPr>
            <a:r>
              <a:t>• MetaMask → Réseaux → Afficher les réseaux de test → Sepolia.</a:t>
            </a:r>
          </a:p>
          <a:p>
            <a:pPr>
              <a:spcAft>
                <a:spcPts val="700"/>
              </a:spcAft>
              <a:defRPr sz="1200">
                <a:solidFill>
                  <a:srgbClr val="334155"/>
                </a:solidFill>
                <a:latin typeface="Aptos"/>
              </a:defRPr>
            </a:pPr>
            <a:r>
              <a:t>• Vérifier le chain ID 11155111.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755380" y="1664208"/>
            <a:ext cx="2491740" cy="44348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919972" y="1847088"/>
            <a:ext cx="73152" cy="4069079"/>
          </a:xfrm>
          <a:prstGeom prst="round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39428" y="1865376"/>
            <a:ext cx="1924812" cy="384048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/>
            <a:r>
              <a:rPr sz="1500" b="1">
                <a:solidFill>
                  <a:srgbClr val="0F172A"/>
                </a:solidFill>
                <a:latin typeface="Aptos"/>
              </a:rPr>
              <a:t>4. ETH de test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39428" y="2322576"/>
            <a:ext cx="1924812" cy="359359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200">
                <a:solidFill>
                  <a:srgbClr val="334155"/>
                </a:solidFill>
                <a:latin typeface="Aptos"/>
              </a:defRPr>
            </a:pPr>
            <a:r>
              <a:t>• Copier l’adresse publique et utiliser faucets.chain.link/sepolia.</a:t>
            </a:r>
          </a:p>
          <a:p>
            <a:pPr>
              <a:spcAft>
                <a:spcPts val="700"/>
              </a:spcAft>
              <a:defRPr sz="1200">
                <a:solidFill>
                  <a:srgbClr val="334155"/>
                </a:solidFill>
                <a:latin typeface="Aptos"/>
              </a:defRPr>
            </a:pPr>
            <a:r>
              <a:t>• Vérifier le solde sur sepolia.etherscan.io puis lier le wallet dans AutoChain.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6473952"/>
            <a:ext cx="10972800" cy="201168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/>
            <a:r>
              <a:rPr sz="800" b="0">
                <a:solidFill>
                  <a:srgbClr val="94A3B8"/>
                </a:solidFill>
                <a:latin typeface="Aptos"/>
              </a:rPr>
              <a:t>AutoChain Emma+  |  Guide utilisateur  |  Juillet 2026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8961120" cy="32004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/>
            <a:r>
              <a:rPr sz="1000" b="1">
                <a:solidFill>
                  <a:srgbClr val="818CF8"/>
                </a:solidFill>
                <a:latin typeface="Aptos"/>
              </a:rPr>
              <a:t>BONNES PRATIQUES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789920" cy="64008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/>
            <a:r>
              <a:rPr sz="2800" b="1">
                <a:solidFill>
                  <a:srgbClr val="0F172A"/>
                </a:solidFill>
                <a:latin typeface="Aptos"/>
              </a:rPr>
              <a:t>Checklist avant de signer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347472"/>
            <a:ext cx="411480" cy="32004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r"/>
            <a:r>
              <a:rPr sz="1100" b="1">
                <a:solidFill>
                  <a:srgbClr val="4F46E5"/>
                </a:solidFill>
                <a:latin typeface="Aptos"/>
              </a:rPr>
              <a:t>14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353312"/>
            <a:ext cx="10972800" cy="3200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94360" y="1664208"/>
            <a:ext cx="3398520" cy="44348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58952" y="1847088"/>
            <a:ext cx="73152" cy="4069079"/>
          </a:xfrm>
          <a:prstGeom prst="round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78408" y="1865376"/>
            <a:ext cx="2831592" cy="384048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/>
            <a:r>
              <a:rPr sz="1500" b="1">
                <a:solidFill>
                  <a:srgbClr val="0F172A"/>
                </a:solidFill>
                <a:latin typeface="Aptos"/>
              </a:rPr>
              <a:t>Compte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8408" y="2322576"/>
            <a:ext cx="2831592" cy="359359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200">
                <a:solidFill>
                  <a:srgbClr val="334155"/>
                </a:solidFill>
                <a:latin typeface="Aptos"/>
              </a:defRPr>
            </a:pPr>
            <a:r>
              <a:t>• Vérifier le nom du compte AutoChain et le rôle affiché.</a:t>
            </a:r>
          </a:p>
          <a:p>
            <a:pPr>
              <a:spcAft>
                <a:spcPts val="700"/>
              </a:spcAft>
              <a:defRPr sz="1200">
                <a:solidFill>
                  <a:srgbClr val="334155"/>
                </a:solidFill>
                <a:latin typeface="Aptos"/>
              </a:defRPr>
            </a:pPr>
            <a:r>
              <a:t>• Vérifier l’adresse MetaMask sélectionnée.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21480" y="1664208"/>
            <a:ext cx="3398520" cy="44348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386072" y="1847088"/>
            <a:ext cx="73152" cy="4069079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05528" y="1865376"/>
            <a:ext cx="2831592" cy="384048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/>
            <a:r>
              <a:rPr sz="1500" b="1">
                <a:solidFill>
                  <a:srgbClr val="0F172A"/>
                </a:solidFill>
                <a:latin typeface="Aptos"/>
              </a:rPr>
              <a:t>Réseau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05528" y="2322576"/>
            <a:ext cx="2831592" cy="359359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200">
                <a:solidFill>
                  <a:srgbClr val="334155"/>
                </a:solidFill>
                <a:latin typeface="Aptos"/>
              </a:defRPr>
            </a:pPr>
            <a:r>
              <a:t>• Contrôler le chain ID et l’adresse du contrat.</a:t>
            </a:r>
          </a:p>
          <a:p>
            <a:pPr>
              <a:spcAft>
                <a:spcPts val="700"/>
              </a:spcAft>
              <a:defRPr sz="1200">
                <a:solidFill>
                  <a:srgbClr val="334155"/>
                </a:solidFill>
                <a:latin typeface="Aptos"/>
              </a:defRPr>
            </a:pPr>
            <a:r>
              <a:t>• Lire la fonction demandée dans l’écran de signature.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848600" y="1664208"/>
            <a:ext cx="3398520" cy="44348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013192" y="1847088"/>
            <a:ext cx="73152" cy="4069079"/>
          </a:xfrm>
          <a:prstGeom prst="round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32648" y="1865376"/>
            <a:ext cx="2831592" cy="384048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/>
            <a:r>
              <a:rPr sz="1500" b="1">
                <a:solidFill>
                  <a:srgbClr val="0F172A"/>
                </a:solidFill>
                <a:latin typeface="Aptos"/>
              </a:rPr>
              <a:t>Résultat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32648" y="2322576"/>
            <a:ext cx="2831592" cy="359359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200">
                <a:solidFill>
                  <a:srgbClr val="334155"/>
                </a:solidFill>
                <a:latin typeface="Aptos"/>
              </a:defRPr>
            </a:pPr>
            <a:r>
              <a:t>• Attendre confirmed.</a:t>
            </a:r>
          </a:p>
          <a:p>
            <a:pPr>
              <a:spcAft>
                <a:spcPts val="700"/>
              </a:spcAft>
              <a:defRPr sz="1200">
                <a:solidFill>
                  <a:srgbClr val="334155"/>
                </a:solidFill>
                <a:latin typeface="Aptos"/>
              </a:defRPr>
            </a:pPr>
            <a:r>
              <a:t>• Contrôler le hash, le bloc et l’événement dans la timeline.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6473952"/>
            <a:ext cx="10972800" cy="201168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/>
            <a:r>
              <a:rPr sz="800" b="0">
                <a:solidFill>
                  <a:srgbClr val="94A3B8"/>
                </a:solidFill>
                <a:latin typeface="Aptos"/>
              </a:rPr>
              <a:t>AutoChain Emma+  |  Guide utilisateur  |  Juillet 2026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143000"/>
            <a:ext cx="10424160" cy="36576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/>
            <a:r>
              <a:rPr sz="1300" b="1">
                <a:solidFill>
                  <a:srgbClr val="A5B4FC"/>
                </a:solidFill>
                <a:latin typeface="Aptos"/>
              </a:rPr>
              <a:t>ASSISTANCE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737360"/>
            <a:ext cx="10424160" cy="73152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Aptos"/>
              </a:rPr>
              <a:t>Prêt à utiliser AutoChain Emma+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743200"/>
            <a:ext cx="9601200" cy="100584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/>
            <a:r>
              <a:rPr sz="2000" b="0">
                <a:solidFill>
                  <a:srgbClr val="CBD5E1"/>
                </a:solidFill>
                <a:latin typeface="Aptos"/>
              </a:rPr>
              <a:t>En cas de doute, ne signez pas. Vérifiez le compte, le réseau et la fonction demandée.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937760"/>
            <a:ext cx="7772400" cy="32004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ptos"/>
              </a:rPr>
              <a:t>contact@autochain-emma.com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349240"/>
            <a:ext cx="7772400" cy="32004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Aptos"/>
              </a:rPr>
              <a:t>+242 06 878 18 44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Guide d’utilisation AutoChain Emma+</dc:title>
  <dc:subject>Guide utilisateur par rôle et parcours blockchain</dc:subject>
  <dc:creator>AutoChain Emma+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