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60120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300" b="1">
                <a:solidFill>
                  <a:srgbClr val="A5B4FC"/>
                </a:solidFill>
                <a:latin typeface="Aptos"/>
              </a:rPr>
              <a:t>GUIDE D’UTILISATION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424160" cy="96012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tos"/>
              </a:rPr>
              <a:t>AutoChain Emma+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9601200" cy="7772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2400" b="0">
                <a:solidFill>
                  <a:srgbClr val="CBD5E1"/>
                </a:solidFill>
                <a:latin typeface="Aptos"/>
              </a:rPr>
              <a:t>Gestion de flotte certifiée par la blockchain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9601200" cy="41148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Aptos"/>
              </a:rPr>
              <a:t>Parcours par rôle · MetaMask · Véhicules · Maintenance · Vente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9601200" cy="27432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Aptos"/>
              </a:rPr>
              <a:t>Version 1.1 — Déploiement validé en 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Aptos"/>
              </a:rPr>
              <a:t>COMPRENDRE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4008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"/>
              </a:rPr>
              <a:t>Une application, deux niveaux de confiance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47472"/>
            <a:ext cx="41148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r"/>
            <a:r>
              <a:rPr sz="1100" b="1">
                <a:solidFill>
                  <a:srgbClr val="4F46E5"/>
                </a:solidFill>
                <a:latin typeface="Aptos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3200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47088"/>
            <a:ext cx="73152" cy="4069079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Données administratives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Utilisateurs, photos, échéances et documents privés dans PostgreSQL.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Accès contrôlé selon le rôle Laravel.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148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1847088"/>
            <a:ext cx="73152" cy="4069079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552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Preuves blockchain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552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Identifiants techniques, kilométrage, hash de maintenance et transferts.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Aucune donnée personnelle en clair sur Ethereum.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860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13192" y="1847088"/>
            <a:ext cx="73152" cy="406907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264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Certification réelle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264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Une donnée n’est certifiée qu’après receipt réussi.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Le serveur vérifie wallet, réseau, contrat, calldata et événement.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10972800" cy="20116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AutoChain Emma+  |  Guide utilisateur  |  Juillet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Aptos"/>
              </a:rPr>
              <a:t>PREMIERS 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4008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"/>
              </a:rPr>
              <a:t>Connexion et navigation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47472"/>
            <a:ext cx="41148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r"/>
            <a:r>
              <a:rPr sz="1100" b="1">
                <a:solidFill>
                  <a:srgbClr val="4F46E5"/>
                </a:solidFill>
                <a:latin typeface="Aptos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3200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47088"/>
            <a:ext cx="73152" cy="4069079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1. Se connecter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Utiliser l’adresse e-mail du compte métier.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Saisir le code MFA reçu par e-mail : il est obligatoire pour tous.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148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1847088"/>
            <a:ext cx="73152" cy="4069079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552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2. Lire le tableau de bord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552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Statistiques filtrées selon le rôle.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Actions rapides et alertes uniquement si autorisées.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860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13192" y="1847088"/>
            <a:ext cx="73152" cy="4069079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264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3. Utiliser le menu Plus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264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Documents, carburant, alertes, ventes et utilisateurs.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Les liens non autorisés sont automatiquement masqués.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10972800" cy="20116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AutoChain Emma+  |  Guide utilisateur  |  Juillet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Aptos"/>
              </a:rPr>
              <a:t>RÔLES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4008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"/>
              </a:rPr>
              <a:t>Qui peut faire quoi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47472"/>
            <a:ext cx="41148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r"/>
            <a:r>
              <a:rPr sz="1100" b="1">
                <a:solidFill>
                  <a:srgbClr val="4F46E5"/>
                </a:solidFill>
                <a:latin typeface="Aptos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3200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64208"/>
            <a:ext cx="249174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47088"/>
            <a:ext cx="73152" cy="4069079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65376"/>
            <a:ext cx="192481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Super Admin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22576"/>
            <a:ext cx="192481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Comptes, rôles, véhicule, garage certifié et proposition de vente.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Wallet identique à l’administrateur du contrat.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4700" y="1664208"/>
            <a:ext cx="249174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9292" y="1847088"/>
            <a:ext cx="73152" cy="4069079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98748" y="1865376"/>
            <a:ext cx="192481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Gestionnaire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8748" y="2322576"/>
            <a:ext cx="192481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Données administratives, documents, carburant et suivi de flotte.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Ne signe pas les opérations réservées au contrat admin.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1664208"/>
            <a:ext cx="249174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9632" y="1847088"/>
            <a:ext cx="73152" cy="4069079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65376"/>
            <a:ext cx="192481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Chauffeur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22576"/>
            <a:ext cx="192481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Voit uniquement le véhicule affecté.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Signe un kilométrage croissant et saisit ses pleins.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5380" y="1664208"/>
            <a:ext cx="249174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19972" y="1847088"/>
            <a:ext cx="73152" cy="406907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39428" y="1865376"/>
            <a:ext cx="192481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Garage / Auditeur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9428" y="2322576"/>
            <a:ext cx="192481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Garage : maintenance après certification on-chain.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Auditeur-acheteur : lecture publique et acceptation de vente.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73952"/>
            <a:ext cx="10972800" cy="20116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AutoChain Emma+  |  Guide utilisateur  |  Juillet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Aptos"/>
              </a:rPr>
              <a:t>IDENTITÉ WEB3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4008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"/>
              </a:rPr>
              <a:t>Lier MetaMask au compte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47472"/>
            <a:ext cx="41148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r"/>
            <a:r>
              <a:rPr sz="1100" b="1">
                <a:solidFill>
                  <a:srgbClr val="4F46E5"/>
                </a:solidFill>
                <a:latin typeface="Aptos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3200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47088"/>
            <a:ext cx="73152" cy="4069079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Préparer MetaMask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Choisir le réseau demandé.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Sélectionner le compte correspondant au rôle.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148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1847088"/>
            <a:ext cx="73152" cy="4069079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552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Signer le challenge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552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Profil → Wallet MetaMask → Lier MetaMask.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Le challenge expire après cinq minutes et ne coûte aucun ETH.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860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13192" y="1847088"/>
            <a:ext cx="73152" cy="4069079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264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Contrôle automatique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264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L’adresse récupérée doit correspondre à la signature.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Un wallet ne peut être lié qu’à un seul compte AutoChain.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10972800" cy="20116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AutoChain Emma+  |  Guide utilisateur  |  Juillet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Aptos"/>
              </a:rPr>
              <a:t>SUPER 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4008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"/>
              </a:rPr>
              <a:t>Créer et gérer un véhicule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47472"/>
            <a:ext cx="41148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r"/>
            <a:r>
              <a:rPr sz="1100" b="1">
                <a:solidFill>
                  <a:srgbClr val="4F46E5"/>
                </a:solidFill>
                <a:latin typeface="Aptos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3200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47088"/>
            <a:ext cx="73152" cy="4069079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Créer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Véhicules → Ajouter un véhicule.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Renseigner VIN, immatriculation, fiche administrative et photo.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148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1847088"/>
            <a:ext cx="73152" cy="4069079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552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Signer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552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MetaMask affiche registerVehicle.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Après confirmation, VehicleRegistered apparaît dans la timeline.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860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13192" y="1847088"/>
            <a:ext cx="73152" cy="406907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264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Affecter / statut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264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Affecter un chauffeur dont le wallet est vérifié.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Signer les statuts critiques : maintenance ou panne.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10972800" cy="20116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AutoChain Emma+  |  Guide utilisateur  |  Juillet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Aptos"/>
              </a:rPr>
              <a:t>CHAUFFEUR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4008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"/>
              </a:rPr>
              <a:t>Kilométrage et carburant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47472"/>
            <a:ext cx="41148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r"/>
            <a:r>
              <a:rPr sz="1100" b="1">
                <a:solidFill>
                  <a:srgbClr val="4F46E5"/>
                </a:solidFill>
                <a:latin typeface="Aptos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3200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47088"/>
            <a:ext cx="73152" cy="4069079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Kilométrage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Ouvrir le véhicule affecté.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Saisir une valeur strictement supérieure au dernier relevé.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148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1847088"/>
            <a:ext cx="73152" cy="4069079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552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Certification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552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Signer updateMileage avec le wallet du chauffeur.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La valeur change seulement après MileageUpdated.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860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13192" y="1847088"/>
            <a:ext cx="73152" cy="4069079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264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Plein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264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Carburant → Saisir un plein.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Date, litres, montant, station et compteur cohérent.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10972800" cy="20116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AutoChain Emma+  |  Guide utilisateur  |  Juillet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Aptos"/>
              </a:rPr>
              <a:t>GARAGE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4008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"/>
              </a:rPr>
              <a:t>Enregistrer une maintenance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47472"/>
            <a:ext cx="41148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r"/>
            <a:r>
              <a:rPr sz="1100" b="1">
                <a:solidFill>
                  <a:srgbClr val="4F46E5"/>
                </a:solidFill>
                <a:latin typeface="Aptos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3200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47088"/>
            <a:ext cx="73152" cy="406907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Certification préalable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Le Super Admin certifie le wallet du garage on-chain.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Sans cette étape, aucune maintenance ne peut être signée.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148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1847088"/>
            <a:ext cx="73152" cy="4069079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552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Intervention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552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Maintenance → Nouvelle maintenance.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Utiliser exactement le dernier kilométrage certifié.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860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13192" y="1847088"/>
            <a:ext cx="73152" cy="4069079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264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Preuve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264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Le détail canonique produit un SHA-256 déterministe.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MaintenanceRecorded confirme le garage, le hash et le kilométrage.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10972800" cy="20116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AutoChain Emma+  |  Guide utilisateur  |  Juillet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Aptos"/>
              </a:rPr>
              <a:t>DOCUMENTS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4008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"/>
              </a:rPr>
              <a:t>Documents, IPFS et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47472"/>
            <a:ext cx="41148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r"/>
            <a:r>
              <a:rPr sz="1100" b="1">
                <a:solidFill>
                  <a:srgbClr val="4F46E5"/>
                </a:solidFill>
                <a:latin typeface="Aptos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3200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47088"/>
            <a:ext cx="73152" cy="4069079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Documents privés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Allowlist PDF/JPEG/PNG/WebP.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SHA-256 vérifié avant chaque téléchargement et accès journalisé.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148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1847088"/>
            <a:ext cx="73152" cy="4069079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552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Publication IPFS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552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Le document devient public seulement après CID valide et pinning.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Le lien gateway est affiché dans l’interface.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860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13192" y="1847088"/>
            <a:ext cx="73152" cy="406907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264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Alertes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264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Contrôle technique, assurance, entretien et seuil kilométrique.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Déduplication automatique et notification e-mail.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10972800" cy="20116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AutoChain Emma+  |  Guide utilisateur  |  Juillet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Aptos"/>
              </a:rPr>
              <a:t>VENTE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4008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"/>
              </a:rPr>
              <a:t>Double validation du transfert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47472"/>
            <a:ext cx="41148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r"/>
            <a:r>
              <a:rPr sz="1100" b="1">
                <a:solidFill>
                  <a:srgbClr val="4F46E5"/>
                </a:solidFill>
                <a:latin typeface="Aptos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3200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47088"/>
            <a:ext cx="73152" cy="4069079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Proposition Admin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Plus → Ventes → Nouvelle vente.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Choisir le véhicule et l’acheteur dont le wallet est vérifié.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148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1847088"/>
            <a:ext cx="73152" cy="4069079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552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Acceptation Acheteur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552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L’acheteur voit uniquement ses ventes.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Seul le wallet exact peut appeler acceptTransfer.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860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13192" y="1847088"/>
            <a:ext cx="73152" cy="406907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264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Finalisation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264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Le véhicule devient sold après TransferAccepted.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Le chauffeur est retiré et les deux hashes restent auditables.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10972800" cy="20116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AutoChain Emma+  |  Guide utilisateur  |  Juillet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Aptos"/>
              </a:rPr>
              <a:t>TRAÇABILITÉ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4008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"/>
              </a:rPr>
              <a:t>Lire les états et la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47472"/>
            <a:ext cx="41148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r"/>
            <a:r>
              <a:rPr sz="1100" b="1">
                <a:solidFill>
                  <a:srgbClr val="4F46E5"/>
                </a:solidFill>
                <a:latin typeface="Aptos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3200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64208"/>
            <a:ext cx="249174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47088"/>
            <a:ext cx="73152" cy="4069079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65376"/>
            <a:ext cx="192481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pending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22576"/>
            <a:ext cx="192481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Demande créée dans Laravel.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Aucune certification n’est encore annoncée.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4700" y="1664208"/>
            <a:ext cx="249174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9292" y="1847088"/>
            <a:ext cx="73152" cy="406907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98748" y="1865376"/>
            <a:ext cx="192481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submitted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8748" y="2322576"/>
            <a:ext cx="192481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Transaction envoyée à Ethereum.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Le receipt est encore attendu ou réconcilié en arrière-plan.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1664208"/>
            <a:ext cx="249174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9632" y="1847088"/>
            <a:ext cx="73152" cy="4069079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65376"/>
            <a:ext cx="192481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confirmed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22576"/>
            <a:ext cx="192481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Receipt réussi et événement attendu trouvé.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La donnée certifiée et la timeline sont mises à jour.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5380" y="1664208"/>
            <a:ext cx="249174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19972" y="1847088"/>
            <a:ext cx="73152" cy="4069079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39428" y="1865376"/>
            <a:ext cx="192481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failed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9428" y="2322576"/>
            <a:ext cx="192481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Réseau, wallet, calldata, revert ou événement invalide.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La preuve n’est jamais marquée certifiée.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73952"/>
            <a:ext cx="10972800" cy="20116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AutoChain Emma+  |  Guide utilisateur  |  Juillet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Aptos"/>
              </a:rPr>
              <a:t>RÉSEAUX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4008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"/>
              </a:rPr>
              <a:t>Hardhat local puis Sepolia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47472"/>
            <a:ext cx="41148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r"/>
            <a:r>
              <a:rPr sz="1100" b="1">
                <a:solidFill>
                  <a:srgbClr val="4F46E5"/>
                </a:solidFill>
                <a:latin typeface="Aptos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3200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47088"/>
            <a:ext cx="73152" cy="4069079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Hardhat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RPC 127.0.0.1:8545, chain ID 31337.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Comptes publics uniquement pour la démonstration locale.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148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1847088"/>
            <a:ext cx="73152" cy="4069079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552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Sepolia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552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Chain ID 11155111 et compte dédié non public.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Chaque signataire paie le gas en Sepolia ETH de test.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860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13192" y="1847088"/>
            <a:ext cx="73152" cy="4069079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264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Interdictions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264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Ne jamais utiliser une clé Hardhat sur un réseau public.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Ne jamais transmettre clé privée ou phrase de récupération.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10972800" cy="20116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AutoChain Emma+  |  Guide utilisateur  |  Juillet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Aptos"/>
              </a:rPr>
              <a:t>DÉMARRAGE SEPOLIA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4008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"/>
              </a:rPr>
              <a:t>Créer son accès et obtenir des Sepolia ETH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47472"/>
            <a:ext cx="41148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r"/>
            <a:r>
              <a:rPr sz="1100" b="1">
                <a:solidFill>
                  <a:srgbClr val="4F46E5"/>
                </a:solidFill>
                <a:latin typeface="Aptos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3200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64208"/>
            <a:ext cx="249174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47088"/>
            <a:ext cx="73152" cy="4069079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65376"/>
            <a:ext cx="192481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1. Compte AutoChain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22576"/>
            <a:ext cx="192481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Connexion → Créer un compte.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Le nouveau compte est Auditeur ; le Super Admin attribue un autre rôle si nécessaire.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4700" y="1664208"/>
            <a:ext cx="249174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9292" y="1847088"/>
            <a:ext cx="73152" cy="4069079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98748" y="1865376"/>
            <a:ext cx="192481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2. Wallet MetaMask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8748" y="2322576"/>
            <a:ext cx="192481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Installer depuis metamask.io et créer un compte de test dédié.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Conserver la phrase secrète hors ligne ; ne jamais la communiquer.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1664208"/>
            <a:ext cx="249174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9632" y="1847088"/>
            <a:ext cx="73152" cy="4069079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65376"/>
            <a:ext cx="192481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3. Réseau Sepolia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22576"/>
            <a:ext cx="192481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MetaMask → Réseaux → Afficher les réseaux de test → Sepolia.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Vérifier le chain ID 11155111.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5380" y="1664208"/>
            <a:ext cx="249174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19972" y="1847088"/>
            <a:ext cx="73152" cy="406907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39428" y="1865376"/>
            <a:ext cx="192481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4. ETH de 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9428" y="2322576"/>
            <a:ext cx="192481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Copier l’adresse publique et utiliser faucets.chain.link/sepolia.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Vérifier le solde sur sepolia.etherscan.io puis lier le wallet dans AutoChain.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73952"/>
            <a:ext cx="10972800" cy="20116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AutoChain Emma+  |  Guide utilisateur  |  Juillet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Aptos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4008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"/>
              </a:rPr>
              <a:t>Application hébergée et services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47472"/>
            <a:ext cx="41148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r"/>
            <a:r>
              <a:rPr sz="1100" b="1">
                <a:solidFill>
                  <a:srgbClr val="4F46E5"/>
                </a:solidFill>
                <a:latin typeface="Aptos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3200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64208"/>
            <a:ext cx="249174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47088"/>
            <a:ext cx="73152" cy="4069079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65376"/>
            <a:ext cx="192481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22576"/>
            <a:ext cx="192481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https://autochain-emma.onrender.com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Render Free exécute une image Docker publique construite par GitHub Actions.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4700" y="1664208"/>
            <a:ext cx="249174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9292" y="1847088"/>
            <a:ext cx="73152" cy="4069079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98748" y="1865376"/>
            <a:ext cx="192481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Données et médias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8748" y="2322576"/>
            <a:ext cx="192481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PostgreSQL et stockage S3-compatible sur Supabase.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Le bucket média public sert avatars, véhicules et logo global.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1664208"/>
            <a:ext cx="249174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9632" y="1847088"/>
            <a:ext cx="73152" cy="406907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65376"/>
            <a:ext cx="192481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E-mail et blockchain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22576"/>
            <a:ext cx="192481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Brevo envoie MFA et notifications via HTTPS.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Sepolia chain ID 11155111 ; chaque signataire paie son gas de test.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5380" y="1664208"/>
            <a:ext cx="249174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19972" y="1847088"/>
            <a:ext cx="73152" cy="4069079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39428" y="1865376"/>
            <a:ext cx="192481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Limites gratuites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9428" y="2322576"/>
            <a:ext cx="192481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Render peut mettre le service en veille.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Queue synchrone et scheduler actif uniquement lorsque le service est éveillé.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73952"/>
            <a:ext cx="10972800" cy="20116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AutoChain Emma+  |  Guide utilisateur  |  Juillet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818CF8"/>
                </a:solidFill>
                <a:latin typeface="Aptos"/>
              </a:rPr>
              <a:t>BONNES PRATIQUES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4008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"/>
              </a:rPr>
              <a:t>Checklist avant de signer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47472"/>
            <a:ext cx="41148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r"/>
            <a:r>
              <a:rPr sz="1100" b="1">
                <a:solidFill>
                  <a:srgbClr val="4F46E5"/>
                </a:solidFill>
                <a:latin typeface="Aptos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3200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47088"/>
            <a:ext cx="73152" cy="4069079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Compte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Vérifier le nom du compte AutoChain et le rôle affiché.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Vérifier l’adresse MetaMask sélectionnée.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148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6072" y="1847088"/>
            <a:ext cx="73152" cy="4069079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552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Réseau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552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Contrôler le chain ID et l’adresse du contrat.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Lire la fonction demandée dans l’écran de signature.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8600" y="1664208"/>
            <a:ext cx="33985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13192" y="1847088"/>
            <a:ext cx="73152" cy="4069079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2648" y="1865376"/>
            <a:ext cx="2831592" cy="38404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Résultat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2648" y="2322576"/>
            <a:ext cx="2831592" cy="3593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Attendre confirmed.</a:t>
            </a:r>
          </a:p>
          <a:p>
            <a:pPr>
              <a:spcAft>
                <a:spcPts val="700"/>
              </a:spcAft>
              <a:defRPr sz="1200">
                <a:solidFill>
                  <a:srgbClr val="334155"/>
                </a:solidFill>
                <a:latin typeface="Aptos"/>
              </a:defRPr>
            </a:pPr>
            <a:r>
              <a:t>• Contrôler le hash, le bloc et l’événement dans la timeline.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10972800" cy="201168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Aptos"/>
              </a:rPr>
              <a:t>AutoChain Emma+  |  Guide utilisateur  |  Juillet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43000"/>
            <a:ext cx="10424160" cy="36576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300" b="1">
                <a:solidFill>
                  <a:srgbClr val="A5B4FC"/>
                </a:solidFill>
                <a:latin typeface="Aptos"/>
              </a:rPr>
              <a:t>ASSISTANCE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424160" cy="73152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Prêt à utiliser AutoChain Emma+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9601200" cy="10058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2000" b="0">
                <a:solidFill>
                  <a:srgbClr val="CBD5E1"/>
                </a:solidFill>
                <a:latin typeface="Aptos"/>
              </a:rPr>
              <a:t>En cas de doute, ne signez pas. Vérifiez le compte, le réseau et la fonction demandée.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777240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contact@autochain-emma.com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49240"/>
            <a:ext cx="7772400" cy="32004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ptos"/>
              </a:rPr>
              <a:t>+242 06 878 18 44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Guide d’utilisation AutoChain Emma+</dc:title>
  <dc:subject>Guide utilisateur par rôle et parcours blockchain</dc:subject>
  <dc:creator>AutoChain Emma+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